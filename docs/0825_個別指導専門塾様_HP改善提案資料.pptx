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62" r:id="rId6"/>
    <p:sldId id="264" r:id="rId7"/>
    <p:sldId id="265" r:id="rId8"/>
    <p:sldId id="259" r:id="rId9"/>
    <p:sldId id="266" r:id="rId10"/>
    <p:sldId id="260" r:id="rId11"/>
    <p:sldId id="267" r:id="rId12"/>
    <p:sldId id="261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0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91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14DC-A85A-994E-59A1-CD41368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8B67F-B14C-4489-22F1-17D90D501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DA574-9368-9954-1440-39E07838A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96681-F82C-0BBF-EE98-7B9B1BBE7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60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ACF5D-9B67-0677-2E4D-C0CE6D42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1755F-23C4-6566-640D-D4B29240F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4DE79-3E16-9C32-6CB7-E316A1EA5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3FBEB-3967-4A5E-A3C9-CDB233A42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74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D04D-EF92-5E01-E550-AED2C2FF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AF176-4012-C694-B08E-B04D23275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C5DB3-1188-28EB-BE29-D281DE8D0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DD4BD-08A9-D4A4-3602-59D6301EC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0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B94F4-D2FE-F87C-09E1-4AFD46BB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A1DB5-BBBD-AE6E-8D01-4B321E838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8DD1A-995B-CDA3-3596-92C5E7FE9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880AB-E757-D993-6AA6-5446C1DFA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32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3DF4-67F0-6A79-677C-8B0AEA43B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45810-0D44-CCDF-962B-4799212DA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DF6A3-82CC-B5C4-6279-F7CA8B44A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CD8F-D74C-69D2-8603-422EFE2E9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703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2D30-B032-F356-73A4-D3566900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2DF10-6D92-CD93-1399-F1504EFD9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F3C93-EB39-FCFA-B8AD-6D36CF6FF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FD7C2-3198-6B19-0E95-AC3AD760C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46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6C797-6292-610A-D8A2-55C8230F3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1FB78-01D9-B978-3481-A621247A4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9A56A-8305-9E42-E390-8A2D6FCC3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02771-355D-E74E-BF26-839AB15BF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5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16768" y="13716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915193" y="13716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113618" y="13716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312042" y="13716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510467" y="13716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0716768" y="335585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915193" y="335585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113618" y="335585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312042" y="335585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510467" y="335585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0716768" y="53401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0915193" y="53401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113618" y="53401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312042" y="53401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510467" y="534010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0716768" y="732434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0915193" y="732434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113618" y="732434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312042" y="732434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510467" y="732434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0716768" y="930859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0915193" y="930859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113618" y="930859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312042" y="930859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510467" y="930859"/>
            <a:ext cx="89611" cy="89611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-137160" y="538581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1265" y="538581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259690" y="538581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458114" y="538581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56539" y="538581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-137160" y="5584241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1265" y="5584241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259690" y="5584241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458114" y="5584241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56539" y="5584241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-137160" y="578266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61265" y="578266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259690" y="578266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458114" y="578266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56539" y="5782666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-137160" y="5981090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61265" y="5981090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259690" y="5981090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458114" y="5981090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656539" y="5981090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-137160" y="6179515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61265" y="6179515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259690" y="6179515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458114" y="6179515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656539" y="6179515"/>
            <a:ext cx="89611" cy="89611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9052560" y="3291840"/>
            <a:ext cx="3291840" cy="3291840"/>
          </a:xfrm>
          <a:prstGeom prst="ellipse">
            <a:avLst/>
          </a:prstGeom>
          <a:ln w="31750">
            <a:solidFill>
              <a:srgbClr val="D654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9601200" y="3840480"/>
            <a:ext cx="2194560" cy="2194560"/>
          </a:xfrm>
          <a:prstGeom prst="ellipse">
            <a:avLst/>
          </a:prstGeom>
          <a:ln w="25400">
            <a:solidFill>
              <a:srgbClr val="4CB8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457200" y="15544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55" name="Text 53"/>
          <p:cNvSpPr/>
          <p:nvPr/>
        </p:nvSpPr>
        <p:spPr>
          <a:xfrm>
            <a:off x="45720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WEBSITE PROPOSAL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57200" y="205740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ja-JP" altLang="en-US" sz="5400" b="1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</a:t>
            </a:r>
            <a:r>
              <a:rPr lang="en-US" sz="5400" b="1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ページの改善提案</a:t>
            </a:r>
            <a:endParaRPr lang="en-US" sz="5400" dirty="0"/>
          </a:p>
        </p:txBody>
      </p:sp>
      <p:sp>
        <p:nvSpPr>
          <p:cNvPr id="57" name="Text 55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 様｜TOPページ／教室紹介ページ／各教室ページ／お問い合わせページ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457200" y="4343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広告経由の流入を、着実な申込みにつなげるための改善ポイントを、</a:t>
            </a:r>
            <a:endParaRPr lang="en-US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ページごとに整理しました。</a:t>
            </a: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57200" y="6172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1279124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420856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562588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704320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137392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279124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20856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62588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704320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137392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279124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420856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562588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137392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279124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420856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562588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704320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137392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1279124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420856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562588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704320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-137160" y="5806440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28" name="Shape 26"/>
          <p:cNvSpPr/>
          <p:nvPr/>
        </p:nvSpPr>
        <p:spPr>
          <a:xfrm>
            <a:off x="4572" y="5806440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29" name="Shape 27"/>
          <p:cNvSpPr/>
          <p:nvPr/>
        </p:nvSpPr>
        <p:spPr>
          <a:xfrm>
            <a:off x="146304" y="5806440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30" name="Shape 28"/>
          <p:cNvSpPr/>
          <p:nvPr/>
        </p:nvSpPr>
        <p:spPr>
          <a:xfrm>
            <a:off x="288036" y="5806440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31" name="Shape 29"/>
          <p:cNvSpPr/>
          <p:nvPr/>
        </p:nvSpPr>
        <p:spPr>
          <a:xfrm>
            <a:off x="429768" y="5806440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32" name="Shape 30"/>
          <p:cNvSpPr/>
          <p:nvPr/>
        </p:nvSpPr>
        <p:spPr>
          <a:xfrm>
            <a:off x="-137160" y="5948172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572" y="5948172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146304" y="5948172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288036" y="5948172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429768" y="5948172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-137160" y="6089904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572" y="6089904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146304" y="6089904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288036" y="6089904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429768" y="6089904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-137160" y="6231636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4572" y="6231636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146304" y="6231636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288036" y="6231636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429768" y="6231636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-137160" y="6373368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4572" y="6373368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146304" y="6373368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288036" y="6373368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Shape 49"/>
          <p:cNvSpPr/>
          <p:nvPr/>
        </p:nvSpPr>
        <p:spPr>
          <a:xfrm>
            <a:off x="429768" y="6373368"/>
            <a:ext cx="64008" cy="64008"/>
          </a:xfrm>
          <a:prstGeom prst="ellipse">
            <a:avLst/>
          </a:prstGeom>
          <a:solidFill>
            <a:srgbClr val="4CB8D4">
              <a:alpha val="2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57200" y="3840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ご提案の見方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D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各ページ共通の考え方</a:t>
            </a:r>
            <a:endParaRPr lang="en-US" sz="2700" dirty="0"/>
          </a:p>
        </p:txBody>
      </p:sp>
      <p:sp>
        <p:nvSpPr>
          <p:cNvPr id="55" name="Shape 5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6546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56" name="Text 54"/>
          <p:cNvSpPr/>
          <p:nvPr/>
        </p:nvSpPr>
        <p:spPr>
          <a:xfrm>
            <a:off x="6400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1389888" y="1709928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40080" y="2468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サイトを見て見つかった、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離脱・機会損失につながる点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941064" y="1810512"/>
            <a:ext cx="384048" cy="347472"/>
          </a:xfrm>
          <a:prstGeom prst="chevron">
            <a:avLst/>
          </a:prstGeom>
          <a:solidFill>
            <a:srgbClr val="EDE7E6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60" name="Shape 58"/>
          <p:cNvSpPr/>
          <p:nvPr/>
        </p:nvSpPr>
        <p:spPr>
          <a:xfrm>
            <a:off x="4389120" y="1691640"/>
            <a:ext cx="566928" cy="56692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CB8D4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61" name="Text 59"/>
          <p:cNvSpPr/>
          <p:nvPr/>
        </p:nvSpPr>
        <p:spPr>
          <a:xfrm>
            <a:off x="43891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5138928" y="1709928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4389120" y="2468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そのページが本来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果たすべき役割・状態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690104" y="1810512"/>
            <a:ext cx="384048" cy="347472"/>
          </a:xfrm>
          <a:prstGeom prst="chevron">
            <a:avLst/>
          </a:prstGeom>
          <a:solidFill>
            <a:srgbClr val="EDE7E6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65" name="Shape 63"/>
          <p:cNvSpPr/>
          <p:nvPr/>
        </p:nvSpPr>
        <p:spPr>
          <a:xfrm>
            <a:off x="8138160" y="1691640"/>
            <a:ext cx="566928" cy="56692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6546A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66" name="Text 64"/>
          <p:cNvSpPr/>
          <p:nvPr/>
        </p:nvSpPr>
        <p:spPr>
          <a:xfrm>
            <a:off x="81381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67" name="Text 65"/>
          <p:cNvSpPr/>
          <p:nvPr/>
        </p:nvSpPr>
        <p:spPr>
          <a:xfrm>
            <a:off x="8887968" y="1709928"/>
            <a:ext cx="2496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改善アイデア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8138160" y="2468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あるべき姿に近づけるための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具体的な打ち手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7200" y="3063240"/>
            <a:ext cx="11274552" cy="0"/>
          </a:xfrm>
          <a:prstGeom prst="line">
            <a:avLst/>
          </a:prstGeom>
          <a:noFill/>
          <a:ln w="12700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70" name="Text 6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この考え方をもとに、以下4ページを診断しました</a:t>
            </a:r>
            <a:endParaRPr lang="en-US" sz="2000" dirty="0"/>
          </a:p>
        </p:txBody>
      </p:sp>
      <p:sp>
        <p:nvSpPr>
          <p:cNvPr id="71" name="Shape 69"/>
          <p:cNvSpPr/>
          <p:nvPr/>
        </p:nvSpPr>
        <p:spPr>
          <a:xfrm>
            <a:off x="457200" y="3886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BEAEE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72" name="Text 70"/>
          <p:cNvSpPr/>
          <p:nvPr/>
        </p:nvSpPr>
        <p:spPr>
          <a:xfrm>
            <a:off x="68580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685800" y="466344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TOPページ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685800" y="53492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第一印象と説得の流れ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337560" y="3886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4F5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76" name="Text 74"/>
          <p:cNvSpPr/>
          <p:nvPr/>
        </p:nvSpPr>
        <p:spPr>
          <a:xfrm>
            <a:off x="356616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C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3566160" y="466344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教室紹介ページ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3566160" y="53492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教室の探しやすさ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217920" y="3886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FBEAEE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80" name="Text 78"/>
          <p:cNvSpPr/>
          <p:nvPr/>
        </p:nvSpPr>
        <p:spPr>
          <a:xfrm>
            <a:off x="644652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6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81" name="Text 79"/>
          <p:cNvSpPr/>
          <p:nvPr/>
        </p:nvSpPr>
        <p:spPr>
          <a:xfrm>
            <a:off x="6446520" y="466344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各教室ページ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6446520" y="53492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教室ごとの安心材料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9098280" y="3886200"/>
            <a:ext cx="2624328" cy="1965960"/>
          </a:xfrm>
          <a:prstGeom prst="roundRect">
            <a:avLst>
              <a:gd name="adj" fmla="val 5581"/>
            </a:avLst>
          </a:prstGeom>
          <a:solidFill>
            <a:srgbClr val="E4F5F9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84" name="Text 82"/>
          <p:cNvSpPr/>
          <p:nvPr/>
        </p:nvSpPr>
        <p:spPr>
          <a:xfrm>
            <a:off x="9326880" y="4069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C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85" name="Text 83"/>
          <p:cNvSpPr/>
          <p:nvPr/>
        </p:nvSpPr>
        <p:spPr>
          <a:xfrm>
            <a:off x="9326880" y="4663440"/>
            <a:ext cx="216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お問い合わせページ</a:t>
            </a:r>
            <a:endParaRPr lang="en-US" sz="2000" dirty="0"/>
          </a:p>
        </p:txBody>
      </p:sp>
      <p:sp>
        <p:nvSpPr>
          <p:cNvPr id="86" name="Text 84"/>
          <p:cNvSpPr/>
          <p:nvPr/>
        </p:nvSpPr>
        <p:spPr>
          <a:xfrm>
            <a:off x="9326880" y="53492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申込みの最後の一歩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　ホームページ改善ご提案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1279124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420856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562588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704320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137392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279124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20856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62588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704320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137392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279124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420856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562588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137392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279124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420856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562588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704320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137392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1279124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420856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562588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704320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57200" y="3840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01｜TOPページ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TOPページ改善提案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" y="1481328"/>
            <a:ext cx="11274552" cy="1170432"/>
          </a:xfrm>
          <a:prstGeom prst="roundRect">
            <a:avLst>
              <a:gd name="adj" fmla="val 10938"/>
            </a:avLst>
          </a:prstGeom>
          <a:solidFill>
            <a:srgbClr val="4CB8D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749808" y="1645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49808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B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9808" y="1993392"/>
            <a:ext cx="7251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共感 → 解決 → 実績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迷わず申込みへ一直線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348472" y="1627632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初めて訪れた保護者が、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迷わず申込みへたどり着ける状態に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7200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FBEAEE"/>
          </a:solidFill>
          <a:ln w="12700">
            <a:solidFill>
              <a:srgbClr val="EAC0CB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61" name="Text 59"/>
          <p:cNvSpPr/>
          <p:nvPr/>
        </p:nvSpPr>
        <p:spPr>
          <a:xfrm>
            <a:off x="731520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6546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749808" y="3557016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63" name="Text 61"/>
          <p:cNvSpPr/>
          <p:nvPr/>
        </p:nvSpPr>
        <p:spPr>
          <a:xfrm>
            <a:off x="996696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差別化メッセージが不在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996696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悩みへの共感から解決策提示への説得の流れができていない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49808" y="4215384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66" name="Text 64"/>
          <p:cNvSpPr/>
          <p:nvPr/>
        </p:nvSpPr>
        <p:spPr>
          <a:xfrm>
            <a:off x="996696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コース比較材料が不足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996696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料金・指導形態の情報がなく離脱ポイントになっている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49808" y="4873752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2800"/>
          </a:p>
        </p:txBody>
      </p:sp>
      <p:sp>
        <p:nvSpPr>
          <p:cNvPr id="69" name="Text 67"/>
          <p:cNvSpPr/>
          <p:nvPr/>
        </p:nvSpPr>
        <p:spPr>
          <a:xfrm>
            <a:off x="996696" y="4782312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教室紹介がテキストのみ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996696" y="5065776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直感的に「近さ」を判断できない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96696" y="5440680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CTAの優先順位が不明瞭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996696" y="5724144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複数並列でどれが推奨導線か区別できない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277356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D6546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75" name="Text 73"/>
          <p:cNvSpPr/>
          <p:nvPr/>
        </p:nvSpPr>
        <p:spPr>
          <a:xfrm>
            <a:off x="6551676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改善アイデア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6569964" y="355701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77" name="Text 75"/>
          <p:cNvSpPr/>
          <p:nvPr/>
        </p:nvSpPr>
        <p:spPr>
          <a:xfrm>
            <a:off x="6816852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ファーストビューを再構成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6816852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共感→解決策→実績数字バッジの順で説得の流れを作る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569964" y="4215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80" name="Text 78"/>
          <p:cNvSpPr/>
          <p:nvPr/>
        </p:nvSpPr>
        <p:spPr>
          <a:xfrm>
            <a:off x="6816852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コース紹介の情報を拡充</a:t>
            </a:r>
            <a:endParaRPr lang="en-US" sz="2000" dirty="0"/>
          </a:p>
        </p:txBody>
      </p:sp>
      <p:sp>
        <p:nvSpPr>
          <p:cNvPr id="81" name="Text 79"/>
          <p:cNvSpPr/>
          <p:nvPr/>
        </p:nvSpPr>
        <p:spPr>
          <a:xfrm>
            <a:off x="6816852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ターゲット像・指導形態・料金目安を追加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69964" y="487375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83" name="Text 81"/>
          <p:cNvSpPr/>
          <p:nvPr/>
        </p:nvSpPr>
        <p:spPr>
          <a:xfrm>
            <a:off x="6816852" y="4782312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教室紹介を地図＋ピン留めに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6816852" y="5065776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ビジュアルで直感的にわかる形へ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569964" y="553212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86" name="Text 84"/>
          <p:cNvSpPr/>
          <p:nvPr/>
        </p:nvSpPr>
        <p:spPr>
          <a:xfrm>
            <a:off x="6816852" y="5440680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CTAの色・サイズを見直し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816852" y="5724144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プライマリ導線（無料体験）を視覚的に強調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　ホームページ改善ご提案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57812-AF01-6968-1EE5-E8B505C4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図 91">
            <a:extLst>
              <a:ext uri="{FF2B5EF4-FFF2-40B4-BE49-F238E27FC236}">
                <a16:creationId xmlns:a16="http://schemas.microsoft.com/office/drawing/2014/main" id="{987F2B72-9479-4426-1394-A0B69E7981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33"/>
          <a:stretch>
            <a:fillRect/>
          </a:stretch>
        </p:blipFill>
        <p:spPr>
          <a:xfrm>
            <a:off x="132521" y="0"/>
            <a:ext cx="11926957" cy="6858000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6AEC27-FF95-754C-1598-69811B846777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</p:spTree>
    <p:extLst>
      <p:ext uri="{BB962C8B-B14F-4D97-AF65-F5344CB8AC3E}">
        <p14:creationId xmlns:p14="http://schemas.microsoft.com/office/powerpoint/2010/main" val="706432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BAB24-A8CC-199D-7470-D8586DD5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図 97">
            <a:extLst>
              <a:ext uri="{FF2B5EF4-FFF2-40B4-BE49-F238E27FC236}">
                <a16:creationId xmlns:a16="http://schemas.microsoft.com/office/drawing/2014/main" id="{8F5F11B3-5F9D-F396-56CF-E92B9CEEE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0" y="0"/>
            <a:ext cx="9129279" cy="6858000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1E52D3B9-907E-6987-72F3-6AB51DE540FE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</p:spTree>
    <p:extLst>
      <p:ext uri="{BB962C8B-B14F-4D97-AF65-F5344CB8AC3E}">
        <p14:creationId xmlns:p14="http://schemas.microsoft.com/office/powerpoint/2010/main" val="92082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4C1D9-998E-A814-A2CE-BB754F6B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3057190-0CC3-5EBA-5273-E280A1D1E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E9125508-6921-99B8-4122-06B5B7C62416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</p:spTree>
    <p:extLst>
      <p:ext uri="{BB962C8B-B14F-4D97-AF65-F5344CB8AC3E}">
        <p14:creationId xmlns:p14="http://schemas.microsoft.com/office/powerpoint/2010/main" val="408548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935E4-8C87-A608-3BAD-41287098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8A0536A-484F-E84B-8AC5-66F259C14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36" y="0"/>
            <a:ext cx="11224727" cy="6858000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B385D9EE-4463-655E-F258-02555FC5D4D6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</p:spTree>
    <p:extLst>
      <p:ext uri="{BB962C8B-B14F-4D97-AF65-F5344CB8AC3E}">
        <p14:creationId xmlns:p14="http://schemas.microsoft.com/office/powerpoint/2010/main" val="161575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1279124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420856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562588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704320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137392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279124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20856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62588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704320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137392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279124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420856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562588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137392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279124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420856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562588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704320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137392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1279124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420856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562588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704320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57200" y="3840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02｜教室紹介ページ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教室紹介ページ（一覧）改善提案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" y="1481328"/>
            <a:ext cx="11274552" cy="1170432"/>
          </a:xfrm>
          <a:prstGeom prst="roundRect">
            <a:avLst>
              <a:gd name="adj" fmla="val 10938"/>
            </a:avLst>
          </a:prstGeom>
          <a:solidFill>
            <a:srgbClr val="4CB8D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749808" y="1645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49808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B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9808" y="1993392"/>
            <a:ext cx="7251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地図で直感的に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近い教室がわかる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348472" y="1627632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探す手間をなくし、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すぐに興味を持てる状態に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57200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FBEAEE"/>
          </a:solidFill>
          <a:ln w="12700">
            <a:solidFill>
              <a:srgbClr val="EAC0CB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731520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6546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749808" y="3557016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61"/>
          <p:cNvSpPr/>
          <p:nvPr/>
        </p:nvSpPr>
        <p:spPr>
          <a:xfrm>
            <a:off x="996696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文字量が多く2ページに分散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6696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全教室がテキスト＋簡易情報の羅列になっている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49808" y="4215384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6" name="Text 64"/>
          <p:cNvSpPr/>
          <p:nvPr/>
        </p:nvSpPr>
        <p:spPr>
          <a:xfrm>
            <a:off x="996696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一覧性が低い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996696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目的の教室（近い教室）を探すのに時間がかかる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277356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D6546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551676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改善アイデア</a:t>
            </a:r>
            <a:endParaRPr lang="en-US" sz="2400" dirty="0"/>
          </a:p>
        </p:txBody>
      </p:sp>
      <p:sp>
        <p:nvSpPr>
          <p:cNvPr id="70" name="Shape 68"/>
          <p:cNvSpPr/>
          <p:nvPr/>
        </p:nvSpPr>
        <p:spPr>
          <a:xfrm>
            <a:off x="6569964" y="355701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1" name="Text 69"/>
          <p:cNvSpPr/>
          <p:nvPr/>
        </p:nvSpPr>
        <p:spPr>
          <a:xfrm>
            <a:off x="6816852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東海エリア全体を地図で可視化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6816852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一覧ページ上部に地図を設置し、教室をピン留め表示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569964" y="4215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4" name="Text 72"/>
          <p:cNvSpPr/>
          <p:nvPr/>
        </p:nvSpPr>
        <p:spPr>
          <a:xfrm>
            <a:off x="6816852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ピンから詳細へ直接遷移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6816852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地図上のピンから各教室詳細への導線を追加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6569964" y="487375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7" name="Text 75"/>
          <p:cNvSpPr/>
          <p:nvPr/>
        </p:nvSpPr>
        <p:spPr>
          <a:xfrm>
            <a:off x="6816852" y="4782312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テキスト一覧は補助として整理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6816852" y="5065776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エリア別タブなど、地図の補助情報として再配置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　ホームページ改善ご提案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341626-C8EB-28AF-FBA3-6DFDB12C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1F5703D-E44E-B5BA-713A-74B95846A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17" y="0"/>
            <a:ext cx="9831765" cy="6858000"/>
          </a:xfrm>
          <a:prstGeom prst="rect">
            <a:avLst/>
          </a:prstGeom>
        </p:spPr>
      </p:pic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A60AB5B6-5875-5956-0A75-9E38BBE060E9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</p:spTree>
    <p:extLst>
      <p:ext uri="{BB962C8B-B14F-4D97-AF65-F5344CB8AC3E}">
        <p14:creationId xmlns:p14="http://schemas.microsoft.com/office/powerpoint/2010/main" val="353651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1279124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420856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562588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704320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137392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279124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20856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62588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704320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137392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279124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420856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562588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137392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279124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420856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562588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704320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137392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1279124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420856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562588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704320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57200" y="3840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03｜各教室ページ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各教室ページ（詳細）改善提案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" y="1481328"/>
            <a:ext cx="11274552" cy="1170432"/>
          </a:xfrm>
          <a:prstGeom prst="roundRect">
            <a:avLst>
              <a:gd name="adj" fmla="val 10938"/>
            </a:avLst>
          </a:prstGeom>
          <a:solidFill>
            <a:srgbClr val="4CB8D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749808" y="1645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49808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B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9808" y="1993392"/>
            <a:ext cx="7251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誰が・どんな環境かが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見えて安心できる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348472" y="1627632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住所だけでなく、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通う姿を想像できる情報に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57200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FBEAEE"/>
          </a:solidFill>
          <a:ln w="12700">
            <a:solidFill>
              <a:srgbClr val="EAC0CB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731520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6546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749808" y="3557016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61"/>
          <p:cNvSpPr/>
          <p:nvPr/>
        </p:nvSpPr>
        <p:spPr>
          <a:xfrm>
            <a:off x="996696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教室固有の説得材料がゼロ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6696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住所・地図・アクセス情報のみで、誰が教えるかが分からない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49808" y="4215384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6" name="Text 64"/>
          <p:cNvSpPr/>
          <p:nvPr/>
        </p:nvSpPr>
        <p:spPr>
          <a:xfrm>
            <a:off x="996696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写真が1枚のみ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996696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教室外観のみで、教室内の雰囲気が伝わらない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277356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D6546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551676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改善アイデア</a:t>
            </a:r>
            <a:endParaRPr lang="en-US" sz="2400" dirty="0"/>
          </a:p>
        </p:txBody>
      </p:sp>
      <p:sp>
        <p:nvSpPr>
          <p:cNvPr id="70" name="Shape 68"/>
          <p:cNvSpPr/>
          <p:nvPr/>
        </p:nvSpPr>
        <p:spPr>
          <a:xfrm>
            <a:off x="6569964" y="355701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1" name="Text 69"/>
          <p:cNvSpPr/>
          <p:nvPr/>
        </p:nvSpPr>
        <p:spPr>
          <a:xfrm>
            <a:off x="6816852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担当講師を紹介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6816852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写真・プロフィール・メッセージを追加（既存データを活用可）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569964" y="4215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4" name="Text 72"/>
          <p:cNvSpPr/>
          <p:nvPr/>
        </p:nvSpPr>
        <p:spPr>
          <a:xfrm>
            <a:off x="6816852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教室内観の写真を追加</a:t>
            </a:r>
            <a:endParaRPr lang="en-US" sz="2400" dirty="0"/>
          </a:p>
        </p:txBody>
      </p:sp>
      <p:sp>
        <p:nvSpPr>
          <p:cNvPr id="75" name="Text 73"/>
          <p:cNvSpPr/>
          <p:nvPr/>
        </p:nvSpPr>
        <p:spPr>
          <a:xfrm>
            <a:off x="6816852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自習スペース・授業風景など複数カットで雰囲気を伝える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　ホームページ改善ご提案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FBFE4-91FB-CE82-BC90-7CE8A724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309B0729-B3BF-5FC0-CC4A-3C18F0B4B38C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7DDABF9-DF52-D5CC-A5E2-0B7E660185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01" b="17053"/>
          <a:stretch>
            <a:fillRect/>
          </a:stretch>
        </p:blipFill>
        <p:spPr>
          <a:xfrm>
            <a:off x="2526217" y="-1"/>
            <a:ext cx="8833665" cy="819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58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1279124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1420856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1562588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704320" y="137160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1137392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279124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1420856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1562588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704320" y="278892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11137392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1279124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11420856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1562588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1704320" y="420624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137392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11279124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11420856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11562588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11704320" y="562356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11137392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11279124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11420856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1562588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704320" y="704088"/>
            <a:ext cx="64008" cy="64008"/>
          </a:xfrm>
          <a:prstGeom prst="ellipse">
            <a:avLst/>
          </a:prstGeom>
          <a:solidFill>
            <a:srgbClr val="D6546A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2" name="Shape 50"/>
          <p:cNvSpPr/>
          <p:nvPr/>
        </p:nvSpPr>
        <p:spPr>
          <a:xfrm>
            <a:off x="457200" y="3840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457200" y="384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04｜お問い合わせページ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57200" y="822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お問い合わせページ改善提案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57200" y="1481328"/>
            <a:ext cx="11274552" cy="1170432"/>
          </a:xfrm>
          <a:prstGeom prst="roundRect">
            <a:avLst>
              <a:gd name="adj" fmla="val 10938"/>
            </a:avLst>
          </a:prstGeom>
          <a:solidFill>
            <a:srgbClr val="4CB8D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749808" y="1645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749808" y="1645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B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49808" y="1993392"/>
            <a:ext cx="7251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タップだけで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気軽に申込み・相談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348472" y="1627632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「何を書けばいいか」で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4F5F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迷わせない設計に</a:t>
            </a: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57200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FBEAEE"/>
          </a:solidFill>
          <a:ln w="12700">
            <a:solidFill>
              <a:srgbClr val="EAC0CB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731520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6546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749808" y="3557016"/>
            <a:ext cx="118872" cy="118872"/>
          </a:xfrm>
          <a:prstGeom prst="ellipse">
            <a:avLst/>
          </a:prstGeom>
          <a:solidFill>
            <a:srgbClr val="D6546A"/>
          </a:solidFill>
          <a:ln/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61"/>
          <p:cNvSpPr/>
          <p:nvPr/>
        </p:nvSpPr>
        <p:spPr>
          <a:xfrm>
            <a:off x="996696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3D363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自由記述のみで入力ハードルが高い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6696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「メッセージ」というオープンクエスチョンが離脱を招いている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277356" y="2907792"/>
            <a:ext cx="5454396" cy="3310128"/>
          </a:xfrm>
          <a:prstGeom prst="roundRect">
            <a:avLst>
              <a:gd name="adj" fmla="val 3867"/>
            </a:avLst>
          </a:prstGeom>
          <a:solidFill>
            <a:srgbClr val="D6546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6551676" y="3072384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改善アイデア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6569964" y="3557016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8" name="Text 66"/>
          <p:cNvSpPr/>
          <p:nvPr/>
        </p:nvSpPr>
        <p:spPr>
          <a:xfrm>
            <a:off x="6816852" y="3465576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選択式ボタンを設置</a:t>
            </a:r>
            <a:endParaRPr lang="en-US" sz="2400" dirty="0"/>
          </a:p>
        </p:txBody>
      </p:sp>
      <p:sp>
        <p:nvSpPr>
          <p:cNvPr id="69" name="Text 67"/>
          <p:cNvSpPr/>
          <p:nvPr/>
        </p:nvSpPr>
        <p:spPr>
          <a:xfrm>
            <a:off x="6816852" y="3749040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「無料体験」「見学」「個別相談」などをワンタップで選べる形に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569964" y="421538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71" name="Text 69"/>
          <p:cNvSpPr/>
          <p:nvPr/>
        </p:nvSpPr>
        <p:spPr>
          <a:xfrm>
            <a:off x="6816852" y="4123944"/>
            <a:ext cx="4658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自由記述は任意入力に格下げ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6816852" y="4407408"/>
            <a:ext cx="46588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F8D9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「補足があれば」程度の位置づけにし心理的ハードルを下げる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3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個人指導専門塾　ホームページ改善ご提案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EDE7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3973E-37EC-13A3-018F-B28C147C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F2BA39BA-B86F-C758-2B88-3163C6A49957}"/>
              </a:ext>
            </a:extLst>
          </p:cNvPr>
          <p:cNvSpPr/>
          <p:nvPr/>
        </p:nvSpPr>
        <p:spPr>
          <a:xfrm>
            <a:off x="132520" y="67377"/>
            <a:ext cx="2302671" cy="5293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デザインアイデア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D758675-CAEA-BD49-AFF5-173E98636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249"/>
          <a:stretch>
            <a:fillRect/>
          </a:stretch>
        </p:blipFill>
        <p:spPr>
          <a:xfrm>
            <a:off x="0" y="1010708"/>
            <a:ext cx="12192000" cy="432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4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280</Words>
  <Application>Microsoft Office PowerPoint</Application>
  <PresentationFormat>ワイド画面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颯太 青木</cp:lastModifiedBy>
  <cp:revision>5</cp:revision>
  <dcterms:created xsi:type="dcterms:W3CDTF">2026-08-24T17:10:18Z</dcterms:created>
  <dcterms:modified xsi:type="dcterms:W3CDTF">2026-08-25T17:13:59Z</dcterms:modified>
</cp:coreProperties>
</file>